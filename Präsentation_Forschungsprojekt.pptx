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70" r:id="rId7"/>
    <p:sldId id="273" r:id="rId8"/>
    <p:sldId id="262" r:id="rId9"/>
    <p:sldId id="260" r:id="rId10"/>
    <p:sldId id="265" r:id="rId11"/>
    <p:sldId id="266" r:id="rId12"/>
    <p:sldId id="263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4" autoAdjust="0"/>
    <p:restoredTop sz="94660"/>
  </p:normalViewPr>
  <p:slideViewPr>
    <p:cSldViewPr snapToGrid="0" showGuides="1">
      <p:cViewPr varScale="1">
        <p:scale>
          <a:sx n="145" d="100"/>
          <a:sy n="145" d="100"/>
        </p:scale>
        <p:origin x="126" y="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346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676F8-CDC6-4BBA-AE3B-8714B8B8EE46}" type="datetimeFigureOut">
              <a:rPr lang="de-DE" smtClean="0"/>
              <a:t>11.01.2026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81FB6-E702-49FA-BDB3-CB6B290AA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867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81FB6-E702-49FA-BDB3-CB6B290AACA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079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8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4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3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7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2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7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0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4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9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42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411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87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4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77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1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BF8B5-E085-44EF-8B1D-E3462DA1A3B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C11B-CF21-4017-B9F9-773ED453631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90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97FD9-8591-7EEA-D452-780FB5D77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790116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Vergleich aktueller rechtspopulistischer Begriffe</a:t>
            </a:r>
            <a:br>
              <a:rPr lang="de-DE" dirty="0"/>
            </a:br>
            <a:r>
              <a:rPr lang="de-DE" dirty="0"/>
              <a:t>mit nationalsozialistischem Quellenmaterial</a:t>
            </a:r>
            <a:br>
              <a:rPr lang="de-DE" dirty="0"/>
            </a:br>
            <a:r>
              <a:rPr lang="de-DE" dirty="0"/>
              <a:t>– eine Korpusanalyse</a:t>
            </a:r>
            <a:br>
              <a:rPr lang="de-DE" dirty="0"/>
            </a:b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DF0F2A-2892-A056-CEF5-ADB938CFD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Melissa Bolik, Kubilay Özkan &amp; Kevin Stevens</a:t>
            </a:r>
          </a:p>
        </p:txBody>
      </p:sp>
    </p:spTree>
    <p:extLst>
      <p:ext uri="{BB962C8B-B14F-4D97-AF65-F5344CB8AC3E}">
        <p14:creationId xmlns:p14="http://schemas.microsoft.com/office/powerpoint/2010/main" val="244065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963A8-94C6-20B5-F5CF-25A266CC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dirty="0"/>
              <a:t>Gliederung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F46B9C1-2F1C-1A8D-B3AC-BBDFB5A5C79A}"/>
              </a:ext>
            </a:extLst>
          </p:cNvPr>
          <p:cNvSpPr txBox="1"/>
          <p:nvPr/>
        </p:nvSpPr>
        <p:spPr>
          <a:xfrm>
            <a:off x="1152144" y="2389632"/>
            <a:ext cx="98755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sz="3600" dirty="0"/>
              <a:t> Motivation &amp; Forschungsfrage</a:t>
            </a:r>
          </a:p>
          <a:p>
            <a:pPr marL="342900" indent="-342900">
              <a:buAutoNum type="arabicPeriod"/>
            </a:pPr>
            <a:r>
              <a:rPr lang="de-DE" sz="3600" dirty="0"/>
              <a:t> Korpusauswahl</a:t>
            </a:r>
          </a:p>
          <a:p>
            <a:pPr marL="342900" indent="-342900">
              <a:buAutoNum type="arabicPeriod"/>
            </a:pPr>
            <a:r>
              <a:rPr lang="de-DE" sz="3600" dirty="0"/>
              <a:t> Methodik</a:t>
            </a:r>
          </a:p>
          <a:p>
            <a:pPr marL="342900" indent="-342900">
              <a:buAutoNum type="arabicPeriod"/>
            </a:pPr>
            <a:r>
              <a:rPr lang="de-DE" sz="3600" dirty="0"/>
              <a:t> Ergebnisse</a:t>
            </a:r>
          </a:p>
          <a:p>
            <a:pPr marL="342900" indent="-342900">
              <a:buAutoNum type="arabicPeriod"/>
            </a:pPr>
            <a:r>
              <a:rPr lang="de-DE" sz="3600" dirty="0"/>
              <a:t> Mögliche Probleme</a:t>
            </a:r>
          </a:p>
          <a:p>
            <a:pPr marL="342900" indent="-342900">
              <a:buAutoNum type="arabicPeriod"/>
            </a:pPr>
            <a:r>
              <a:rPr lang="de-DE" sz="3600" dirty="0"/>
              <a:t> Fazit</a:t>
            </a:r>
          </a:p>
          <a:p>
            <a:pPr marL="342900" indent="-342900">
              <a:buAutoNum type="arabicPeriod"/>
            </a:pPr>
            <a:r>
              <a:rPr lang="de-DE" sz="3600" dirty="0"/>
              <a:t> Diskussion</a:t>
            </a:r>
          </a:p>
        </p:txBody>
      </p:sp>
    </p:spTree>
    <p:extLst>
      <p:ext uri="{BB962C8B-B14F-4D97-AF65-F5344CB8AC3E}">
        <p14:creationId xmlns:p14="http://schemas.microsoft.com/office/powerpoint/2010/main" val="73511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B5D92-7CDA-2BA1-2598-A6AB35F5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1. Motivation &amp; Forschungsfrage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F9489B-5639-AB66-804E-3E9F8C51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u="sng" dirty="0"/>
              <a:t>Forschungsfrage:</a:t>
            </a:r>
            <a:r>
              <a:rPr lang="de-DE" dirty="0"/>
              <a:t> Benutzen politische Vertreterinnen und Vertreter der AfD nationalsozialistisches Vokabular aus den 1920er bis 1940er Jahren in ihrem Parteiprogramm und ihren Reden?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2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DC655-D12A-5C45-CC22-F2E7FE8E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Korpusauswahl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C71EB95-1DE0-A89E-BDE6-5CA719B0F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965" y="2547336"/>
            <a:ext cx="8796894" cy="2152679"/>
          </a:xfrm>
        </p:spPr>
      </p:pic>
    </p:spTree>
    <p:extLst>
      <p:ext uri="{BB962C8B-B14F-4D97-AF65-F5344CB8AC3E}">
        <p14:creationId xmlns:p14="http://schemas.microsoft.com/office/powerpoint/2010/main" val="399849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D1C80-F2D8-0FCD-0778-FD20A85E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Korpusauswahl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60F003-45DE-B882-18B7-C7370DC7A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Untersuchte Begriffe:</a:t>
            </a:r>
          </a:p>
          <a:p>
            <a:pPr lvl="1"/>
            <a:r>
              <a:rPr lang="en-US" dirty="0"/>
              <a:t>Lebensraum</a:t>
            </a:r>
          </a:p>
          <a:p>
            <a:pPr lvl="1"/>
            <a:r>
              <a:rPr lang="en-US" dirty="0"/>
              <a:t>Internationales Finanzjudentum/Weltjudentum/Globalisten</a:t>
            </a:r>
          </a:p>
          <a:p>
            <a:pPr lvl="1"/>
            <a:r>
              <a:rPr lang="de-DE" dirty="0"/>
              <a:t>deutscher Volkskörper/Volksgemeinschaft/Volksgenossen</a:t>
            </a:r>
          </a:p>
          <a:p>
            <a:pPr lvl="1"/>
            <a:r>
              <a:rPr lang="en-US" dirty="0"/>
              <a:t>Staatsvolk</a:t>
            </a:r>
          </a:p>
          <a:p>
            <a:pPr lvl="1"/>
            <a:r>
              <a:rPr lang="en-US" dirty="0"/>
              <a:t>1.000-jähriges Reich</a:t>
            </a:r>
          </a:p>
          <a:p>
            <a:pPr lvl="1"/>
            <a:r>
              <a:rPr lang="en-US" dirty="0"/>
              <a:t>Lügenpresse/politische Lüge</a:t>
            </a:r>
          </a:p>
          <a:p>
            <a:pPr lvl="1"/>
            <a:r>
              <a:rPr lang="en-US" dirty="0"/>
              <a:t>Volksverräter</a:t>
            </a:r>
          </a:p>
          <a:p>
            <a:pPr lvl="1"/>
            <a:r>
              <a:rPr lang="en-US" dirty="0"/>
              <a:t>Zionisten</a:t>
            </a:r>
          </a:p>
          <a:p>
            <a:pPr lvl="1"/>
            <a:r>
              <a:rPr lang="en-US" dirty="0"/>
              <a:t>Zinsknechtschaft</a:t>
            </a:r>
          </a:p>
          <a:p>
            <a:pPr lvl="1"/>
            <a:r>
              <a:rPr lang="en-US" dirty="0"/>
              <a:t>entartet/Entartung</a:t>
            </a:r>
          </a:p>
          <a:p>
            <a:pPr lvl="1"/>
            <a:r>
              <a:rPr lang="en-US" dirty="0"/>
              <a:t>Rasse</a:t>
            </a:r>
          </a:p>
        </p:txBody>
      </p:sp>
    </p:spTree>
    <p:extLst>
      <p:ext uri="{BB962C8B-B14F-4D97-AF65-F5344CB8AC3E}">
        <p14:creationId xmlns:p14="http://schemas.microsoft.com/office/powerpoint/2010/main" val="352229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B53C1-C9DF-55AE-1214-13352377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Methodik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01DABD-F073-C57D-8812-4028C83A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Kollokationsanalyse mithilfe des Open-Source-Tools „AntConc“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 </a:t>
            </a:r>
            <a:r>
              <a:rPr lang="de-DE" dirty="0"/>
              <a:t>Vergleich der beiden Korpora und der darin verwendeten Termini</a:t>
            </a:r>
          </a:p>
        </p:txBody>
      </p:sp>
    </p:spTree>
    <p:extLst>
      <p:ext uri="{BB962C8B-B14F-4D97-AF65-F5344CB8AC3E}">
        <p14:creationId xmlns:p14="http://schemas.microsoft.com/office/powerpoint/2010/main" val="257798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F8D8-D6D8-ED97-0707-B0618E22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0E556-CB39-A1DA-339B-AC3663B6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6AC40-E56C-B50E-AAD1-764FE7E9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Untersuchte Begriffe:</a:t>
            </a:r>
          </a:p>
          <a:p>
            <a:pPr lvl="1"/>
            <a:r>
              <a:rPr lang="en-US" dirty="0"/>
              <a:t>Lebensraum </a:t>
            </a:r>
            <a:r>
              <a:rPr lang="en-US" dirty="0">
                <a:sym typeface="Wingdings" panose="05000000000000000000" pitchFamily="2" charset="2"/>
              </a:rPr>
              <a:t> Mein Kampf, Bundestag Plenarprotokolle</a:t>
            </a:r>
            <a:endParaRPr lang="en-US" dirty="0"/>
          </a:p>
          <a:p>
            <a:pPr lvl="1"/>
            <a:r>
              <a:rPr lang="en-US" dirty="0"/>
              <a:t>Internationales Finanzjudentum/Weltjudentum/Globalisten </a:t>
            </a:r>
            <a:r>
              <a:rPr lang="en-US" dirty="0">
                <a:sym typeface="Wingdings" panose="05000000000000000000" pitchFamily="2" charset="2"/>
              </a:rPr>
              <a:t> Mein Kampf</a:t>
            </a:r>
            <a:endParaRPr lang="en-US" dirty="0"/>
          </a:p>
          <a:p>
            <a:pPr lvl="1"/>
            <a:r>
              <a:rPr lang="de-DE" dirty="0"/>
              <a:t>deutscher Volkskörper/Volksgemeinschaft/Volksgenossen </a:t>
            </a:r>
            <a:r>
              <a:rPr lang="de-DE" dirty="0">
                <a:sym typeface="Wingdings" panose="05000000000000000000" pitchFamily="2" charset="2"/>
              </a:rPr>
              <a:t> NSDAP-Parteiprogramm, Mein Kampf, Bundestag Plenarprotokolle</a:t>
            </a:r>
            <a:endParaRPr lang="de-DE" dirty="0"/>
          </a:p>
          <a:p>
            <a:pPr lvl="1"/>
            <a:r>
              <a:rPr lang="en-US" dirty="0"/>
              <a:t>Staatsvolk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Mein Kampf, AfD-Parteiprogramm, Bundestag Plenarprotokolle</a:t>
            </a:r>
          </a:p>
          <a:p>
            <a:pPr lvl="1"/>
            <a:r>
              <a:rPr lang="en-US" dirty="0"/>
              <a:t>1.000-jähriges Reich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/>
              <a:t>Mein Kampf</a:t>
            </a:r>
          </a:p>
          <a:p>
            <a:pPr lvl="1"/>
            <a:r>
              <a:rPr lang="en-US" dirty="0"/>
              <a:t>Lügenpresse/politische Lüge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NSDAP-</a:t>
            </a:r>
            <a:r>
              <a:rPr lang="en-US" dirty="0" err="1"/>
              <a:t>Parteiprogramm</a:t>
            </a:r>
            <a:r>
              <a:rPr lang="en-US" dirty="0"/>
              <a:t>, Bundestag Plenarprotokolle</a:t>
            </a:r>
          </a:p>
          <a:p>
            <a:pPr lvl="1"/>
            <a:r>
              <a:rPr lang="en-US" dirty="0"/>
              <a:t>Volksverräter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/>
              <a:t>Mein Kampf</a:t>
            </a:r>
          </a:p>
          <a:p>
            <a:pPr lvl="1"/>
            <a:r>
              <a:rPr lang="en-US" dirty="0"/>
              <a:t>Zionisten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Mein Kampf, Bundestag Plenarprotokolle</a:t>
            </a:r>
          </a:p>
          <a:p>
            <a:pPr lvl="1"/>
            <a:r>
              <a:rPr lang="en-US" dirty="0"/>
              <a:t>Zinsknechtschaft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NSDAP-</a:t>
            </a:r>
            <a:r>
              <a:rPr lang="en-US" dirty="0" err="1"/>
              <a:t>Parteiprogramm</a:t>
            </a:r>
            <a:r>
              <a:rPr lang="en-US" dirty="0"/>
              <a:t>, Mein Kampf</a:t>
            </a:r>
          </a:p>
          <a:p>
            <a:pPr lvl="1"/>
            <a:r>
              <a:rPr lang="en-US" dirty="0"/>
              <a:t>entartet/Entartung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Mein Kampf, Bundestag Plenarprotokolle</a:t>
            </a:r>
          </a:p>
          <a:p>
            <a:pPr lvl="1"/>
            <a:r>
              <a:rPr lang="en-US" dirty="0"/>
              <a:t>Rasse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NSDAP-</a:t>
            </a:r>
            <a:r>
              <a:rPr lang="en-US" dirty="0" err="1"/>
              <a:t>Parteiprogramm</a:t>
            </a:r>
            <a:r>
              <a:rPr lang="en-US" dirty="0"/>
              <a:t>, Mein Kampf, Bundestag Plenarprotokolle</a:t>
            </a:r>
          </a:p>
        </p:txBody>
      </p:sp>
    </p:spTree>
    <p:extLst>
      <p:ext uri="{BB962C8B-B14F-4D97-AF65-F5344CB8AC3E}">
        <p14:creationId xmlns:p14="http://schemas.microsoft.com/office/powerpoint/2010/main" val="263441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D1C80-F2D8-0FCD-0778-FD20A85E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091CDD1-03D8-B214-A296-B1F7FB360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302007"/>
              </p:ext>
            </p:extLst>
          </p:nvPr>
        </p:nvGraphicFramePr>
        <p:xfrm>
          <a:off x="1966912" y="1681480"/>
          <a:ext cx="8255001" cy="48971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34089">
                  <a:extLst>
                    <a:ext uri="{9D8B030D-6E8A-4147-A177-3AD203B41FA5}">
                      <a16:colId xmlns:a16="http://schemas.microsoft.com/office/drawing/2014/main" val="1642224814"/>
                    </a:ext>
                  </a:extLst>
                </a:gridCol>
                <a:gridCol w="1580228">
                  <a:extLst>
                    <a:ext uri="{9D8B030D-6E8A-4147-A177-3AD203B41FA5}">
                      <a16:colId xmlns:a16="http://schemas.microsoft.com/office/drawing/2014/main" val="397614127"/>
                    </a:ext>
                  </a:extLst>
                </a:gridCol>
                <a:gridCol w="1580228">
                  <a:extLst>
                    <a:ext uri="{9D8B030D-6E8A-4147-A177-3AD203B41FA5}">
                      <a16:colId xmlns:a16="http://schemas.microsoft.com/office/drawing/2014/main" val="4118121663"/>
                    </a:ext>
                  </a:extLst>
                </a:gridCol>
                <a:gridCol w="1580228">
                  <a:extLst>
                    <a:ext uri="{9D8B030D-6E8A-4147-A177-3AD203B41FA5}">
                      <a16:colId xmlns:a16="http://schemas.microsoft.com/office/drawing/2014/main" val="1940677234"/>
                    </a:ext>
                  </a:extLst>
                </a:gridCol>
                <a:gridCol w="1580228">
                  <a:extLst>
                    <a:ext uri="{9D8B030D-6E8A-4147-A177-3AD203B41FA5}">
                      <a16:colId xmlns:a16="http://schemas.microsoft.com/office/drawing/2014/main" val="469485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Vorkommen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solidFill>
                            <a:schemeClr val="tx1"/>
                          </a:solidFill>
                        </a:rPr>
                        <a:t>Begriff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dirty="0">
                          <a:solidFill>
                            <a:schemeClr val="tx1"/>
                          </a:solidFill>
                        </a:rPr>
                        <a:t>Bundestag Plenarprotokolle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AfD-Parteiprogramm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NSDAP-Parteiprogramm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Mein Kampf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81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Lebensraum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275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Internationales Finanzjudentum/ Weltjudentum/Globalisten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656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deutscher Volkskörper/ Volksgemeinschaft/Volksgenossen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53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Staatsvolk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70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1.000-jähriges Reich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6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Lügenpresse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6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Volksverräter 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22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Zionisten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26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Zinsknechtschaft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7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Entartet/Entartung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45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Rasse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127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2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BE0C9F-85E8-5468-ED16-6E58FA7F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2F67B09-4A1F-2E29-B8C9-0E879FA57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39" y="1883664"/>
            <a:ext cx="10819921" cy="3310945"/>
          </a:xfrm>
        </p:spPr>
      </p:pic>
    </p:spTree>
    <p:extLst>
      <p:ext uri="{BB962C8B-B14F-4D97-AF65-F5344CB8AC3E}">
        <p14:creationId xmlns:p14="http://schemas.microsoft.com/office/powerpoint/2010/main" val="40119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B203A-E3D5-E1FC-7F0B-5D4E3382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FBE86C-A281-89B8-6906-DE35331DB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Quelle: Mein Kampf</a:t>
            </a:r>
          </a:p>
          <a:p>
            <a:pPr marL="0" indent="0">
              <a:buNone/>
            </a:pPr>
            <a:r>
              <a:rPr lang="de-DE" dirty="0"/>
              <a:t>[…] einer Zeit oder eines Volkes und der natürlichen Armut eines </a:t>
            </a:r>
            <a:r>
              <a:rPr lang="de-DE" i="1" u="sng" dirty="0"/>
              <a:t>Lebensraumes</a:t>
            </a:r>
            <a:r>
              <a:rPr lang="de-DE" dirty="0"/>
              <a:t>. Es gibt Gebiete, in denen auch der Arier nur […]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37D607E-66CE-BCF4-8366-EFD04A9801ED}"/>
              </a:ext>
            </a:extLst>
          </p:cNvPr>
          <p:cNvSpPr txBox="1">
            <a:spLocks/>
          </p:cNvSpPr>
          <p:nvPr/>
        </p:nvSpPr>
        <p:spPr>
          <a:xfrm>
            <a:off x="6096000" y="2249487"/>
            <a:ext cx="49545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Quelle: </a:t>
            </a:r>
            <a:r>
              <a:rPr lang="de-DE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43. Sitzung </a:t>
            </a:r>
            <a:r>
              <a:rPr lang="de-DE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Berlin, Freitag, 29.06.2018, Jens Maier (AfD):</a:t>
            </a:r>
            <a:endParaRPr lang="de-DE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dirty="0"/>
              <a:t>[…]</a:t>
            </a:r>
            <a:r>
              <a:rPr lang="de-DE" kern="100" dirty="0">
                <a:cs typeface="Times New Roman" panose="02020603050405020304" pitchFamily="18" charset="0"/>
              </a:rPr>
              <a:t> </a:t>
            </a:r>
            <a:r>
              <a:rPr lang="de-DE" dirty="0">
                <a:effectLst/>
                <a:ea typeface="Times New Roman" panose="02020603050405020304" pitchFamily="18" charset="0"/>
              </a:rPr>
              <a:t>Es ist ein unhaltbarer Zustand, wenn junge Leute in Deutschland eine Familie gründen wollen, jedoch keinen bezahlbaren </a:t>
            </a:r>
            <a:r>
              <a:rPr lang="de-DE" i="1" u="sng" dirty="0">
                <a:effectLst/>
                <a:ea typeface="Times New Roman" panose="02020603050405020304" pitchFamily="18" charset="0"/>
              </a:rPr>
              <a:t>Lebensraum</a:t>
            </a:r>
            <a:r>
              <a:rPr lang="de-DE" dirty="0">
                <a:effectLst/>
                <a:ea typeface="Times New Roman" panose="02020603050405020304" pitchFamily="18" charset="0"/>
              </a:rPr>
              <a:t> zur eigenen Entfaltung finden. […]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065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B203A-E3D5-E1FC-7F0B-5D4E3382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FBE86C-A281-89B8-6906-DE35331DB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Quelle: 25-Punkte-Programm NSDAP</a:t>
            </a:r>
          </a:p>
          <a:p>
            <a:pPr marL="0" indent="0">
              <a:buNone/>
            </a:pPr>
            <a:r>
              <a:rPr lang="de-DE" dirty="0"/>
              <a:t>[…] Bestand gefährden oder gegen das Sittlichkeits- und Moralgefühl der germanischen </a:t>
            </a:r>
            <a:r>
              <a:rPr lang="de-DE" i="1" u="sng" dirty="0"/>
              <a:t>Rasse</a:t>
            </a:r>
            <a:r>
              <a:rPr lang="de-DE" dirty="0"/>
              <a:t> verstoßen. Die Partei als solche vertritt den Standpunkt eines […]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37D607E-66CE-BCF4-8366-EFD04A9801ED}"/>
              </a:ext>
            </a:extLst>
          </p:cNvPr>
          <p:cNvSpPr txBox="1">
            <a:spLocks/>
          </p:cNvSpPr>
          <p:nvPr/>
        </p:nvSpPr>
        <p:spPr>
          <a:xfrm>
            <a:off x="6096000" y="2249487"/>
            <a:ext cx="49545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Quelle: </a:t>
            </a:r>
            <a:r>
              <a:rPr lang="de-DE" kern="0" dirty="0">
                <a:cs typeface="Times New Roman" panose="02020603050405020304" pitchFamily="18" charset="0"/>
              </a:rPr>
              <a:t>77</a:t>
            </a:r>
            <a:r>
              <a:rPr lang="de-DE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Sitzung </a:t>
            </a:r>
            <a:r>
              <a:rPr lang="de-DE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Berlin, Donnerstag, </a:t>
            </a:r>
            <a:r>
              <a:rPr lang="de-DE" kern="100" dirty="0">
                <a:ea typeface="Calibri" panose="020F0502020204030204" pitchFamily="34" charset="0"/>
                <a:cs typeface="Times New Roman" panose="02020603050405020304" pitchFamily="18" charset="0"/>
              </a:rPr>
              <a:t>31</a:t>
            </a:r>
            <a:r>
              <a:rPr lang="de-DE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.01.2019, Dr. Marc Jongen (AfD):</a:t>
            </a:r>
            <a:endParaRPr lang="de-DE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dirty="0"/>
              <a:t>[…]</a:t>
            </a:r>
            <a:r>
              <a:rPr lang="de-DE" kern="100" dirty="0">
                <a:cs typeface="Times New Roman" panose="02020603050405020304" pitchFamily="18" charset="0"/>
              </a:rPr>
              <a:t> </a:t>
            </a:r>
            <a:r>
              <a:rPr lang="de-DE" dirty="0">
                <a:effectLst/>
                <a:ea typeface="Times New Roman" panose="02020603050405020304" pitchFamily="18" charset="0"/>
              </a:rPr>
              <a:t>den Konzentrationslagern der Nazis, in den Gulags der Sowjets jeglicher Menschenwürde beraubt wurden und systematisch vernichtet worden sind. Natürlich besteht ein signifikanter Unterschied zwischen dem </a:t>
            </a:r>
            <a:r>
              <a:rPr lang="de-DE" i="1" u="sng" dirty="0">
                <a:effectLst/>
                <a:ea typeface="Times New Roman" panose="02020603050405020304" pitchFamily="18" charset="0"/>
              </a:rPr>
              <a:t>Rassenwahn</a:t>
            </a:r>
            <a:r>
              <a:rPr lang="de-DE" dirty="0">
                <a:effectLst/>
                <a:ea typeface="Times New Roman" panose="02020603050405020304" pitchFamily="18" charset="0"/>
              </a:rPr>
              <a:t> der Nazis und dem Hass der Bolschewiki auf den Klassenfeind. Und, ja, es gibt auch gute Gründe, in der Judenvernichtung durch die Nazis eine […]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2336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B203A-E3D5-E1FC-7F0B-5D4E3382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FBE86C-A281-89B8-6906-DE35331DB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dirty="0"/>
              <a:t>Quelle: Mein Kampf  § 256</a:t>
            </a:r>
          </a:p>
          <a:p>
            <a:pPr marL="0" indent="0">
              <a:buNone/>
            </a:pPr>
            <a:r>
              <a:rPr lang="de-DE" dirty="0"/>
              <a:t>Die Herrschaft des Geldes</a:t>
            </a:r>
          </a:p>
          <a:p>
            <a:pPr marL="0" indent="0">
              <a:buNone/>
            </a:pPr>
            <a:r>
              <a:rPr lang="de-DE" dirty="0"/>
              <a:t>[…] als veraltet und überlebt in die Ecke gestellt und statt </a:t>
            </a:r>
          </a:p>
          <a:p>
            <a:pPr marL="0" indent="0">
              <a:buNone/>
            </a:pPr>
            <a:r>
              <a:rPr lang="de-DE" dirty="0"/>
              <a:t>ihnen der Weihrauch dem Götzen Mammon dargebracht. </a:t>
            </a:r>
          </a:p>
          <a:p>
            <a:pPr marL="0" indent="0">
              <a:buNone/>
            </a:pPr>
            <a:r>
              <a:rPr lang="de-DE" dirty="0"/>
              <a:t>Eine wahrhaft schlimme </a:t>
            </a:r>
            <a:r>
              <a:rPr lang="de-DE" i="1" u="sng" dirty="0"/>
              <a:t>Entartung</a:t>
            </a:r>
            <a:r>
              <a:rPr lang="de-DE" dirty="0"/>
              <a:t> setzte ein, schlimm be-</a:t>
            </a:r>
          </a:p>
          <a:p>
            <a:pPr marL="0" indent="0">
              <a:buNone/>
            </a:pPr>
            <a:r>
              <a:rPr lang="de-DE" dirty="0"/>
              <a:t>sonders deshalb, weil sie zu einer Zeit eintrat, da die </a:t>
            </a:r>
          </a:p>
          <a:p>
            <a:pPr marL="0" indent="0">
              <a:buNone/>
            </a:pPr>
            <a:r>
              <a:rPr lang="de-DE" dirty="0"/>
              <a:t>Nation höchste heldische Gesinnung nötiger denn je brau-</a:t>
            </a:r>
          </a:p>
          <a:p>
            <a:pPr marL="0" indent="0">
              <a:buNone/>
            </a:pPr>
            <a:r>
              <a:rPr lang="de-DE" dirty="0"/>
              <a:t>chen konnte. Deutschland mußte sich gefaßt machen, eines </a:t>
            </a:r>
          </a:p>
          <a:p>
            <a:pPr marL="0" indent="0">
              <a:buNone/>
            </a:pPr>
            <a:r>
              <a:rPr lang="de-DE" dirty="0"/>
              <a:t>Tages mit dem Schwert für seinen Versuch, auf dem Wege </a:t>
            </a:r>
          </a:p>
          <a:p>
            <a:pPr marL="0" indent="0">
              <a:buNone/>
            </a:pPr>
            <a:r>
              <a:rPr lang="de-DE" dirty="0"/>
              <a:t>einer „friedlichen, wirtschaftlichen Arbeit“ sich das tägliche </a:t>
            </a:r>
          </a:p>
          <a:p>
            <a:pPr marL="0" indent="0">
              <a:buNone/>
            </a:pPr>
            <a:r>
              <a:rPr lang="de-DE" dirty="0"/>
              <a:t>Brot zu sichern, einzustehen.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37D607E-66CE-BCF4-8366-EFD04A9801ED}"/>
              </a:ext>
            </a:extLst>
          </p:cNvPr>
          <p:cNvSpPr txBox="1">
            <a:spLocks/>
          </p:cNvSpPr>
          <p:nvPr/>
        </p:nvSpPr>
        <p:spPr>
          <a:xfrm>
            <a:off x="6096000" y="2249487"/>
            <a:ext cx="49545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Quelle: 12. Sitzung Berlin, Freitag, 02.02.2018, Dr. Gottfried Curio (AfD):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[…] Die AfD fordert, das rückgängig zu machen. Staatsvolk ist Wahlvolk, und Wahlvolk kann Staat, Grundgesetz und Demokratie aus den Angeln heben. Ein zur Regel </a:t>
            </a:r>
            <a:r>
              <a:rPr lang="de-DE" i="1" u="sng" dirty="0"/>
              <a:t>entarteter</a:t>
            </a:r>
            <a:r>
              <a:rPr lang="de-DE" dirty="0"/>
              <a:t> Doppelpass untergräbt Staat und Demokratie. […]</a:t>
            </a:r>
          </a:p>
        </p:txBody>
      </p:sp>
    </p:spTree>
    <p:extLst>
      <p:ext uri="{BB962C8B-B14F-4D97-AF65-F5344CB8AC3E}">
        <p14:creationId xmlns:p14="http://schemas.microsoft.com/office/powerpoint/2010/main" val="124250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978B9-4358-9A76-5A31-61A1F3F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de-DE" dirty="0"/>
              <a:t>Mögliche</a:t>
            </a:r>
            <a:r>
              <a:rPr lang="en-US" dirty="0"/>
              <a:t> 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B96389-1E7B-8C36-F8F0-218B6F43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/>
          <a:lstStyle/>
          <a:p>
            <a:r>
              <a:rPr lang="de-DE" dirty="0"/>
              <a:t>Nationalsozialistisches Quellenmaterial teilweise sehr schwer zugänglich (Goebbels-Reden)</a:t>
            </a:r>
          </a:p>
          <a:p>
            <a:r>
              <a:rPr lang="de-DE" dirty="0"/>
              <a:t>Twitter-Beiträge werden oftmals gelöscht und sind danach nicht mehr auffindbar </a:t>
            </a:r>
            <a:r>
              <a:rPr lang="de-DE" dirty="0">
                <a:sym typeface="Wingdings" panose="05000000000000000000" pitchFamily="2" charset="2"/>
              </a:rPr>
              <a:t> schwer nachzuweisen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77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C715D-42B9-C508-FFB4-5B076348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 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207CA2-A064-5E2F-3A61-BF09E809E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wurde bereits eine gute Ausgangsbasis geschaffen, allerdings sind die bisherigen Ergebnisse noch ausbaufähig, da noch nicht alle möglichen Quellen (Goebbels-Reden, Twitter-Beiträge) aufgrund der mangelnden Verfügbarkeit voll ausgeschöpft wurden.</a:t>
            </a:r>
          </a:p>
        </p:txBody>
      </p:sp>
    </p:spTree>
    <p:extLst>
      <p:ext uri="{BB962C8B-B14F-4D97-AF65-F5344CB8AC3E}">
        <p14:creationId xmlns:p14="http://schemas.microsoft.com/office/powerpoint/2010/main" val="3302161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679</Words>
  <Application>Microsoft Office PowerPoint</Application>
  <PresentationFormat>Breitbild</PresentationFormat>
  <Paragraphs>113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Tw Cen MT</vt:lpstr>
      <vt:lpstr>Wingdings</vt:lpstr>
      <vt:lpstr>Schaltkreis</vt:lpstr>
      <vt:lpstr>Vergleich aktueller rechtspopulistischer Begriffe mit nationalsozialistischem Quellenmaterial – eine Korpusanalyse </vt:lpstr>
      <vt:lpstr>Gliederung</vt:lpstr>
      <vt:lpstr> 1. Motivation &amp; Forschungsfrage</vt:lpstr>
      <vt:lpstr>2. Korpusauswahl</vt:lpstr>
      <vt:lpstr>2. Korpusauswahl</vt:lpstr>
      <vt:lpstr>3. Methodik</vt:lpstr>
      <vt:lpstr>4. Ergebnisse</vt:lpstr>
      <vt:lpstr>4. Ergebnisse</vt:lpstr>
      <vt:lpstr>4. Ergebnisse</vt:lpstr>
      <vt:lpstr>4. Ergebnisse</vt:lpstr>
      <vt:lpstr>4. Ergebnisse</vt:lpstr>
      <vt:lpstr>4. Ergebnisse</vt:lpstr>
      <vt:lpstr>5. Mögliche Probleme</vt:lpstr>
      <vt:lpstr>6. 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Vergleich zeitgenössischer rechtsextremer Begriffe mit nationalsozialistischem Quellenmaterial </dc:title>
  <dc:creator>Stevens, Kevin</dc:creator>
  <cp:lastModifiedBy>Stevens, Kevin</cp:lastModifiedBy>
  <cp:revision>8</cp:revision>
  <dcterms:created xsi:type="dcterms:W3CDTF">2024-02-08T08:18:14Z</dcterms:created>
  <dcterms:modified xsi:type="dcterms:W3CDTF">2026-01-11T13:55:01Z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1E85D8F9-3527-45A6-A36D-154F40443EE7</vt:lpwstr>
  </property>
  <property fmtid="{D5CDD505-2E9C-101B-9397-08002B2CF9AE}" pid="3" name="ArticulatePath">
    <vt:lpwstr>Präsentation1</vt:lpwstr>
  </property>
</Properties>
</file>